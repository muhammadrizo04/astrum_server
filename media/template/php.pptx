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30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57" autoAdjust="0"/>
  </p:normalViewPr>
  <p:slideViewPr>
    <p:cSldViewPr snapToGrid="0">
      <p:cViewPr varScale="1">
        <p:scale>
          <a:sx n="99" d="100"/>
          <a:sy n="99" d="100"/>
        </p:scale>
        <p:origin x="926" y="82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1813340" y="435200"/>
            <a:ext cx="573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ilroy-Black" panose="00000A00000000000000" pitchFamily="2" charset="-52"/>
              </a:rPr>
              <a:t>ASTRUM IT ACADEMY</a:t>
            </a:r>
            <a:endParaRPr lang="ru-RU" sz="2400" b="1" dirty="0">
              <a:latin typeface="Gilroy-Black" panose="00000A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355801" y="1071084"/>
            <a:ext cx="664829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spc="990" dirty="0">
                <a:solidFill>
                  <a:srgbClr val="5430CE"/>
                </a:solidFill>
                <a:latin typeface="Gilroy-Black" panose="00000500000000000000" pitchFamily="2" charset="-52"/>
              </a:rPr>
              <a:t>CERTIFICATE</a:t>
            </a:r>
            <a:endParaRPr lang="ru-RU" sz="6600" spc="990" dirty="0">
              <a:solidFill>
                <a:srgbClr val="5430CE"/>
              </a:solidFill>
              <a:latin typeface="Gilroy-Black" panose="000005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16165" y="3096763"/>
            <a:ext cx="47275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Gilroy" panose="00000500000000000000" pitchFamily="2" charset="-52"/>
              </a:rPr>
              <a:t>tinglovchining </a:t>
            </a:r>
            <a:r>
              <a:rPr lang="uz-Cyrl-UZ" sz="900" dirty="0">
                <a:latin typeface="Gilroy" panose="00000500000000000000" pitchFamily="2" charset="-52"/>
              </a:rPr>
              <a:t>familiya</a:t>
            </a:r>
            <a:r>
              <a:rPr lang="en-US" sz="900" dirty="0">
                <a:latin typeface="Gilroy" panose="00000500000000000000" pitchFamily="2" charset="-52"/>
              </a:rPr>
              <a:t>si</a:t>
            </a:r>
            <a:r>
              <a:rPr lang="uz-Cyrl-UZ" sz="900" dirty="0">
                <a:latin typeface="Gilroy" panose="00000500000000000000" pitchFamily="2" charset="-52"/>
              </a:rPr>
              <a:t>, ism</a:t>
            </a:r>
            <a:r>
              <a:rPr lang="en-US" sz="900" dirty="0">
                <a:latin typeface="Gilroy" panose="00000500000000000000" pitchFamily="2" charset="-52"/>
              </a:rPr>
              <a:t>i</a:t>
            </a:r>
            <a:r>
              <a:rPr lang="uz-Cyrl-UZ" sz="900" dirty="0">
                <a:latin typeface="Gilroy" panose="00000500000000000000" pitchFamily="2" charset="-52"/>
              </a:rPr>
              <a:t>, otasining ismi  /</a:t>
            </a:r>
            <a:r>
              <a:rPr lang="en-US" sz="900" dirty="0">
                <a:latin typeface="Gilroy" panose="00000500000000000000" pitchFamily="2" charset="-52"/>
              </a:rPr>
              <a:t> listener’s</a:t>
            </a:r>
            <a:r>
              <a:rPr lang="uz-Cyrl-UZ" sz="900" dirty="0">
                <a:latin typeface="Gilroy" panose="00000500000000000000" pitchFamily="2" charset="-52"/>
              </a:rPr>
              <a:t> </a:t>
            </a:r>
            <a:r>
              <a:rPr lang="en-US" sz="900" dirty="0">
                <a:latin typeface="Gilroy" panose="00000500000000000000" pitchFamily="2" charset="-52"/>
              </a:rPr>
              <a:t>last name</a:t>
            </a:r>
            <a:r>
              <a:rPr lang="uz-Cyrl-UZ" sz="900" dirty="0">
                <a:latin typeface="Gilroy" panose="00000500000000000000" pitchFamily="2" charset="-52"/>
              </a:rPr>
              <a:t>, </a:t>
            </a:r>
            <a:r>
              <a:rPr lang="en-US" sz="900" dirty="0">
                <a:latin typeface="Gilroy" panose="00000500000000000000" pitchFamily="2" charset="-52"/>
              </a:rPr>
              <a:t>first </a:t>
            </a:r>
            <a:r>
              <a:rPr lang="uz-Cyrl-UZ" sz="900" dirty="0">
                <a:latin typeface="Gilroy" panose="00000500000000000000" pitchFamily="2" charset="-52"/>
              </a:rPr>
              <a:t>name, </a:t>
            </a:r>
            <a:r>
              <a:rPr lang="en-US" sz="900" dirty="0">
                <a:latin typeface="Gilroy" panose="00000500000000000000" pitchFamily="2" charset="-52"/>
              </a:rPr>
              <a:t>sur</a:t>
            </a:r>
            <a:r>
              <a:rPr lang="uz-Cyrl-UZ" sz="900" dirty="0">
                <a:latin typeface="Gilroy" panose="00000500000000000000" pitchFamily="2" charset="-52"/>
              </a:rPr>
              <a:t>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604968" y="3511201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Ushbu sertifikat bitiruvchiga quyidagi yo‘nalish bo‘yicha</a:t>
            </a:r>
            <a:r>
              <a:rPr lang="en-US" sz="1000" b="1" spc="100" dirty="0">
                <a:latin typeface="Gilroy" panose="00000500000000000000" pitchFamily="2" charset="-52"/>
              </a:rPr>
              <a:t> </a:t>
            </a:r>
            <a:r>
              <a:rPr lang="uz-Cyrl-UZ" sz="1000" b="1" spc="100" dirty="0">
                <a:latin typeface="Gilroy" panose="00000500000000000000" pitchFamily="2" charset="-52"/>
              </a:rPr>
              <a:t>dasturlash o‘quv kursini</a:t>
            </a:r>
          </a:p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muvaffaqiyatli tamomlagani uchun berildi </a:t>
            </a: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endParaRPr lang="en-US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is awarded to the recipient for successfully completing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the programming course in the following track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546560" y="5425200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Certificate</a:t>
            </a:r>
          </a:p>
          <a:p>
            <a:r>
              <a:rPr lang="en-US" sz="800" dirty="0">
                <a:latin typeface="Gilroy" panose="00000500000000000000" pitchFamily="2" charset="-52"/>
              </a:rPr>
              <a:t>ilovasiz</a:t>
            </a:r>
            <a:r>
              <a:rPr lang="ru-RU" sz="800" dirty="0">
                <a:latin typeface="Gilroy" panose="00000500000000000000" pitchFamily="2" charset="-52"/>
              </a:rPr>
              <a:t> </a:t>
            </a:r>
            <a:r>
              <a:rPr lang="en-US" sz="800" dirty="0">
                <a:latin typeface="Gilroy" panose="00000500000000000000" pitchFamily="2" charset="-52"/>
              </a:rPr>
              <a:t>kuchga ega emas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invalid without appendix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r>
              <a:rPr lang="en-US" sz="1200" dirty="0">
                <a:latin typeface="Gilroy" panose="00000500000000000000" pitchFamily="2" charset="-52"/>
              </a:rPr>
              <a:t> 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4246708" y="5421363"/>
            <a:ext cx="918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915631" y="5426727"/>
            <a:ext cx="1140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city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28B55-3CA1-9A26-A976-637BF4288675}"/>
              </a:ext>
            </a:extLst>
          </p:cNvPr>
          <p:cNvSpPr txBox="1"/>
          <p:nvPr/>
        </p:nvSpPr>
        <p:spPr>
          <a:xfrm>
            <a:off x="403485" y="4193492"/>
            <a:ext cx="12642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certificate.astrum.uz</a:t>
            </a:r>
            <a:endParaRPr lang="ru-RU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23DE3E-2673-8027-E58A-CE9E364097F5}"/>
              </a:ext>
            </a:extLst>
          </p:cNvPr>
          <p:cNvSpPr txBox="1"/>
          <p:nvPr/>
        </p:nvSpPr>
        <p:spPr>
          <a:xfrm>
            <a:off x="1897762" y="4372975"/>
            <a:ext cx="687337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5430CE"/>
                </a:solidFill>
                <a:latin typeface="Gilroy-Black"/>
              </a:rPr>
              <a:t>PHP LARAVEL BACKEND DEVELOPER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FF4D08-309F-2773-A09F-0B0A77FA5CC7}"/>
              </a:ext>
            </a:extLst>
          </p:cNvPr>
          <p:cNvSpPr/>
          <p:nvPr/>
        </p:nvSpPr>
        <p:spPr>
          <a:xfrm>
            <a:off x="1947638" y="4819326"/>
            <a:ext cx="6773618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CAA245-FC92-2291-A910-E22A1588D4F0}"/>
              </a:ext>
            </a:extLst>
          </p:cNvPr>
          <p:cNvSpPr txBox="1"/>
          <p:nvPr/>
        </p:nvSpPr>
        <p:spPr>
          <a:xfrm>
            <a:off x="3605277" y="4822198"/>
            <a:ext cx="2552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tamomla</a:t>
            </a:r>
            <a:r>
              <a:rPr lang="en-US" sz="900" dirty="0">
                <a:latin typeface="Gilroy" panose="00000500000000000000" pitchFamily="2" charset="-52"/>
              </a:rPr>
              <a:t>n</a:t>
            </a:r>
            <a:r>
              <a:rPr lang="uz-Cyrl-UZ" sz="900" dirty="0">
                <a:latin typeface="Gilroy" panose="00000500000000000000" pitchFamily="2" charset="-52"/>
              </a:rPr>
              <a:t>gan yo‘nalish / graduated course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E023E-66FA-99E0-6F4F-601705031FBE}"/>
              </a:ext>
            </a:extLst>
          </p:cNvPr>
          <p:cNvSpPr txBox="1"/>
          <p:nvPr/>
        </p:nvSpPr>
        <p:spPr>
          <a:xfrm>
            <a:off x="3518411" y="155247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EB89B89-93F9-7ECF-D5BE-5FFC310EC138}"/>
              </a:ext>
            </a:extLst>
          </p:cNvPr>
          <p:cNvGrpSpPr/>
          <p:nvPr/>
        </p:nvGrpSpPr>
        <p:grpSpPr>
          <a:xfrm>
            <a:off x="-8" y="-8749"/>
            <a:ext cx="9359900" cy="6119814"/>
            <a:chOff x="9359900" y="0"/>
            <a:chExt cx="9359900" cy="6119814"/>
          </a:xfrm>
        </p:grpSpPr>
        <p:pic>
          <p:nvPicPr>
            <p:cNvPr id="17" name="Рисунок 16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CEC1753-0B61-1AF8-5CFC-C35735292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 flipH="1">
              <a:off x="9359900" y="0"/>
              <a:ext cx="9359900" cy="6119813"/>
            </a:xfrm>
            <a:prstGeom prst="rect">
              <a:avLst/>
            </a:prstGeom>
          </p:spPr>
        </p:pic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FA40D93-759B-F061-BA3B-DD5132B374D8}"/>
                </a:ext>
              </a:extLst>
            </p:cNvPr>
            <p:cNvSpPr/>
            <p:nvPr/>
          </p:nvSpPr>
          <p:spPr>
            <a:xfrm>
              <a:off x="9359900" y="1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D86B770-8A9C-0E68-436F-2B7162C9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1471" b="42838"/>
            <a:stretch/>
          </p:blipFill>
          <p:spPr>
            <a:xfrm>
              <a:off x="9359900" y="1857861"/>
              <a:ext cx="8294914" cy="4261952"/>
            </a:xfrm>
            <a:prstGeom prst="rect">
              <a:avLst/>
            </a:prstGeom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85" y="1408518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269678" y="1446168"/>
            <a:ext cx="48205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Gilroy" panose="00000500000000000000" pitchFamily="2" charset="-52"/>
              </a:rPr>
              <a:t>bitiruvchining </a:t>
            </a:r>
            <a:r>
              <a:rPr lang="uz-Cyrl-UZ" sz="900" dirty="0">
                <a:latin typeface="Gilroy" panose="00000500000000000000" pitchFamily="2" charset="-52"/>
              </a:rPr>
              <a:t>familiya</a:t>
            </a:r>
            <a:r>
              <a:rPr lang="en-US" sz="900" dirty="0">
                <a:latin typeface="Gilroy" panose="00000500000000000000" pitchFamily="2" charset="-52"/>
              </a:rPr>
              <a:t>si</a:t>
            </a:r>
            <a:r>
              <a:rPr lang="uz-Cyrl-UZ" sz="900" dirty="0">
                <a:latin typeface="Gilroy" panose="00000500000000000000" pitchFamily="2" charset="-52"/>
              </a:rPr>
              <a:t>, ism</a:t>
            </a:r>
            <a:r>
              <a:rPr lang="en-US" sz="900" dirty="0">
                <a:latin typeface="Gilroy" panose="00000500000000000000" pitchFamily="2" charset="-52"/>
              </a:rPr>
              <a:t>i</a:t>
            </a:r>
            <a:r>
              <a:rPr lang="uz-Cyrl-UZ" sz="900" dirty="0">
                <a:latin typeface="Gilroy" panose="00000500000000000000" pitchFamily="2" charset="-52"/>
              </a:rPr>
              <a:t>, otasining ismi  /</a:t>
            </a:r>
            <a:r>
              <a:rPr lang="en-US" sz="900" dirty="0">
                <a:latin typeface="Gilroy" panose="00000500000000000000" pitchFamily="2" charset="-52"/>
              </a:rPr>
              <a:t> graduate’s</a:t>
            </a:r>
            <a:r>
              <a:rPr lang="uz-Cyrl-UZ" sz="900" dirty="0">
                <a:latin typeface="Gilroy" panose="00000500000000000000" pitchFamily="2" charset="-52"/>
              </a:rPr>
              <a:t> </a:t>
            </a:r>
            <a:r>
              <a:rPr lang="en-US" sz="900" dirty="0">
                <a:latin typeface="Gilroy" panose="00000500000000000000" pitchFamily="2" charset="-52"/>
              </a:rPr>
              <a:t>last name</a:t>
            </a:r>
            <a:r>
              <a:rPr lang="uz-Cyrl-UZ" sz="900" dirty="0">
                <a:latin typeface="Gilroy" panose="00000500000000000000" pitchFamily="2" charset="-52"/>
              </a:rPr>
              <a:t>, </a:t>
            </a:r>
            <a:r>
              <a:rPr lang="en-US" sz="900" dirty="0">
                <a:latin typeface="Gilroy" panose="00000500000000000000" pitchFamily="2" charset="-52"/>
              </a:rPr>
              <a:t>first </a:t>
            </a:r>
            <a:r>
              <a:rPr lang="uz-Cyrl-UZ" sz="900" dirty="0">
                <a:latin typeface="Gilroy" panose="00000500000000000000" pitchFamily="2" charset="-52"/>
              </a:rPr>
              <a:t>name, </a:t>
            </a:r>
            <a:r>
              <a:rPr lang="en-US" sz="900" dirty="0">
                <a:latin typeface="Gilroy" panose="00000500000000000000" pitchFamily="2" charset="-52"/>
              </a:rPr>
              <a:t>sur</a:t>
            </a:r>
            <a:r>
              <a:rPr lang="uz-Cyrl-UZ" sz="900" dirty="0">
                <a:latin typeface="Gilroy" panose="00000500000000000000" pitchFamily="2" charset="-52"/>
              </a:rPr>
              <a:t>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8235D-D17D-0498-B9C1-B0D0546C6116}"/>
              </a:ext>
            </a:extLst>
          </p:cNvPr>
          <p:cNvSpPr txBox="1"/>
          <p:nvPr/>
        </p:nvSpPr>
        <p:spPr>
          <a:xfrm>
            <a:off x="400005" y="303544"/>
            <a:ext cx="1079783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E6472-1977-FE23-5ACD-A4FE297F074A}"/>
              </a:ext>
            </a:extLst>
          </p:cNvPr>
          <p:cNvSpPr txBox="1"/>
          <p:nvPr/>
        </p:nvSpPr>
        <p:spPr>
          <a:xfrm>
            <a:off x="3629822" y="301642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Gilroy" panose="00000500000000000000" pitchFamily="2" charset="-52"/>
              </a:rPr>
              <a:t>SERTIFIKAT ILOVASI /</a:t>
            </a:r>
          </a:p>
          <a:p>
            <a:pPr algn="ctr"/>
            <a:r>
              <a:rPr lang="en-US" sz="1400" b="1" dirty="0">
                <a:latin typeface="Gilroy" panose="00000500000000000000" pitchFamily="2" charset="-52"/>
              </a:rPr>
              <a:t>CERTIFICATE APPENDIX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6C754-1166-BC74-8309-A8DACDDA8BCF}"/>
              </a:ext>
            </a:extLst>
          </p:cNvPr>
          <p:cNvSpPr txBox="1"/>
          <p:nvPr/>
        </p:nvSpPr>
        <p:spPr>
          <a:xfrm>
            <a:off x="1061483" y="1691287"/>
            <a:ext cx="7229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«</a:t>
            </a:r>
            <a:r>
              <a:rPr lang="en-US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PHP Laravel Backend Developer</a:t>
            </a:r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»</a:t>
            </a:r>
            <a:endParaRPr lang="ru-RU" sz="2800" b="1" dirty="0">
              <a:solidFill>
                <a:srgbClr val="5430CE"/>
              </a:solidFill>
              <a:latin typeface="Gilroy-Black" panose="00000A00000000000000" pitchFamily="2" charset="-5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8269-DC11-D0A0-368F-8FBA19864A30}"/>
              </a:ext>
            </a:extLst>
          </p:cNvPr>
          <p:cNvSpPr txBox="1"/>
          <p:nvPr/>
        </p:nvSpPr>
        <p:spPr>
          <a:xfrm>
            <a:off x="403484" y="2353589"/>
            <a:ext cx="855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B</a:t>
            </a:r>
            <a:r>
              <a:rPr lang="uz-Cyrl-UZ" sz="1200" b="1" spc="100" dirty="0">
                <a:latin typeface="Gilroy" panose="00000500000000000000" pitchFamily="2" charset="-52"/>
              </a:rPr>
              <a:t>itiruvchi</a:t>
            </a:r>
            <a:r>
              <a:rPr lang="en-US" sz="1200" b="1" spc="100" dirty="0">
                <a:latin typeface="Gilroy" panose="00000500000000000000" pitchFamily="2" charset="-52"/>
              </a:rPr>
              <a:t> ushbu o‘quv kursida 12 oy davomida 4 ta quyidagi bosqichlarni tamomladi 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/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The graduate completed the following 4 steps during the 12 months on this learning course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977F0-4017-B7CA-A429-FB4BF9C3F208}"/>
              </a:ext>
            </a:extLst>
          </p:cNvPr>
          <p:cNvSpPr txBox="1"/>
          <p:nvPr/>
        </p:nvSpPr>
        <p:spPr>
          <a:xfrm>
            <a:off x="7770525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76C5A2E-5626-F198-9C58-5B01B1014A9C}"/>
              </a:ext>
            </a:extLst>
          </p:cNvPr>
          <p:cNvSpPr>
            <a:spLocks noChangeAspect="1"/>
          </p:cNvSpPr>
          <p:nvPr/>
        </p:nvSpPr>
        <p:spPr>
          <a:xfrm>
            <a:off x="7770525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  <p:pic>
        <p:nvPicPr>
          <p:cNvPr id="24" name="Рисунок 23" descr="Изображение выглядит как Шрифт, Графика, графический дизайн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3222A39-15A9-40DF-B527-4A128C6AE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980" y="267520"/>
            <a:ext cx="1097424" cy="440941"/>
          </a:xfrm>
          <a:prstGeom prst="rect">
            <a:avLst/>
          </a:prstGeom>
        </p:spPr>
      </p:pic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D1C3979E-381A-B7D5-67C7-83F7E916B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690964"/>
              </p:ext>
            </p:extLst>
          </p:nvPr>
        </p:nvGraphicFramePr>
        <p:xfrm>
          <a:off x="396000" y="3413645"/>
          <a:ext cx="324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30109357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203549539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5430CE"/>
                          </a:solidFill>
                          <a:latin typeface="Gilroy Black" panose="00000A00000000000000" pitchFamily="2" charset="-52"/>
                        </a:rPr>
                        <a:t>I modul</a:t>
                      </a:r>
                    </a:p>
                    <a:p>
                      <a:pPr algn="l"/>
                      <a:r>
                        <a:rPr lang="en-US" sz="1000" b="1" dirty="0">
                          <a:latin typeface="Gilroy" panose="00000500000000000000" pitchFamily="2" charset="-52"/>
                        </a:rPr>
                        <a:t>PHP &amp; MySQL/    </a:t>
                      </a:r>
                      <a:br>
                        <a:rPr lang="en-US" sz="1000" b="1" dirty="0">
                          <a:latin typeface="Gilroy" panose="00000500000000000000" pitchFamily="2" charset="-52"/>
                        </a:rPr>
                      </a:br>
                      <a:r>
                        <a:rPr lang="en-US" sz="1000" b="1" dirty="0">
                          <a:latin typeface="Gilroy" panose="00000500000000000000" pitchFamily="2" charset="-52"/>
                        </a:rPr>
                        <a:t>(24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</a:t>
                      </a:r>
                    </a:p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0439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II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Laravel &amp; MVC/</a:t>
                      </a:r>
                      <a:b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</a:b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(24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3303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III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Laravel &amp; API/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(16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764384"/>
                  </a:ext>
                </a:extLst>
              </a:tr>
            </a:tbl>
          </a:graphicData>
        </a:graphic>
      </p:graphicFrame>
      <p:graphicFrame>
        <p:nvGraphicFramePr>
          <p:cNvPr id="10" name="Таблица 4">
            <a:extLst>
              <a:ext uri="{FF2B5EF4-FFF2-40B4-BE49-F238E27FC236}">
                <a16:creationId xmlns:a16="http://schemas.microsoft.com/office/drawing/2014/main" id="{9E71FECC-1C87-075C-8260-A8C2D773E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480474"/>
              </p:ext>
            </p:extLst>
          </p:nvPr>
        </p:nvGraphicFramePr>
        <p:xfrm>
          <a:off x="4034515" y="3413645"/>
          <a:ext cx="324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30109357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203549539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IV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Integrations &amp;</a:t>
                      </a:r>
                      <a:r>
                        <a:rPr kumimoji="0" lang="ru-RU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DevOps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 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0439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V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Amaliyot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 Black" panose="00000A00000000000000" pitchFamily="2" charset="-52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3303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z-Cyrl-UZ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Natija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The result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Muvaffaqiyatli/</a:t>
                      </a:r>
                    </a:p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Successful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764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80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742</TotalTime>
  <Words>273</Words>
  <Application>Microsoft Office PowerPoint</Application>
  <PresentationFormat>Произвольный</PresentationFormat>
  <Paragraphs>49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Gilroy</vt:lpstr>
      <vt:lpstr>Gilroy Black</vt:lpstr>
      <vt:lpstr>Gilroy-Black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Odil Azizov</dc:creator>
  <cp:lastModifiedBy>MuhammadRizo Muxtorov</cp:lastModifiedBy>
  <cp:revision>127</cp:revision>
  <cp:lastPrinted>2023-05-11T13:15:46Z</cp:lastPrinted>
  <dcterms:created xsi:type="dcterms:W3CDTF">2023-05-02T10:05:08Z</dcterms:created>
  <dcterms:modified xsi:type="dcterms:W3CDTF">2025-01-17T08:57:03Z</dcterms:modified>
</cp:coreProperties>
</file>