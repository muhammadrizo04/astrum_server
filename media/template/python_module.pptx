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8" r:id="rId3"/>
  </p:sldIdLst>
  <p:sldSz cx="9359900" cy="611981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7" userDrawn="1">
          <p15:clr>
            <a:srgbClr val="A4A3A4"/>
          </p15:clr>
        </p15:guide>
        <p15:guide id="2" pos="29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430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57" autoAdjust="0"/>
  </p:normalViewPr>
  <p:slideViewPr>
    <p:cSldViewPr snapToGrid="0">
      <p:cViewPr varScale="1">
        <p:scale>
          <a:sx n="99" d="100"/>
          <a:sy n="99" d="100"/>
        </p:scale>
        <p:origin x="926" y="82"/>
      </p:cViewPr>
      <p:guideLst>
        <p:guide orient="horz" pos="1927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9E420A-D8EA-4169-B0CB-BD7427D63971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822325" y="1233488"/>
            <a:ext cx="50911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6BA1A7-97E7-422D-BA07-F63C8FF33BD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1754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1pPr>
    <a:lvl2pPr marL="3714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2pPr>
    <a:lvl3pPr marL="7429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3pPr>
    <a:lvl4pPr marL="11144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4pPr>
    <a:lvl5pPr marL="14859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5pPr>
    <a:lvl6pPr marL="185737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6pPr>
    <a:lvl7pPr marL="222885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7pPr>
    <a:lvl8pPr marL="2600325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8pPr>
    <a:lvl9pPr marL="2971800" algn="l" defTabSz="742950" rtl="0" eaLnBrk="1" latinLnBrk="0" hangingPunct="1">
      <a:defRPr sz="9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6BA1A7-97E7-422D-BA07-F63C8FF33BDA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3874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1993" y="1001553"/>
            <a:ext cx="7955915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988" y="3214319"/>
            <a:ext cx="7019925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80042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2207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8619" y="1525705"/>
            <a:ext cx="8072914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8619" y="4095460"/>
            <a:ext cx="8072914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/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5551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3493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8449" y="1629117"/>
            <a:ext cx="3977958" cy="388296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895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325825"/>
            <a:ext cx="8072914" cy="118288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4713" y="1500205"/>
            <a:ext cx="3959676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4713" y="2235432"/>
            <a:ext cx="3959676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8450" y="1500205"/>
            <a:ext cx="397917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8450" y="2235432"/>
            <a:ext cx="3979177" cy="32879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98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86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4851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9177" y="881141"/>
            <a:ext cx="4738449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943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4712" y="407988"/>
            <a:ext cx="3018811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79177" y="881141"/>
            <a:ext cx="4738449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4712" y="1835944"/>
            <a:ext cx="3018811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3309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8692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8179" y="325823"/>
            <a:ext cx="2018228" cy="518625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493" y="325823"/>
            <a:ext cx="5937687" cy="518625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91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3493" y="325825"/>
            <a:ext cx="8072914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3493" y="1629117"/>
            <a:ext cx="8072914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3493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004FFE-867F-4FDE-8485-1845021E777B}" type="datetimeFigureOut">
              <a:rPr lang="ru-RU" smtClean="0"/>
              <a:t>17.01.2025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0467" y="5672162"/>
            <a:ext cx="3158966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10429" y="5672162"/>
            <a:ext cx="2105978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50D59-3A06-458F-ADE9-F50CB0D6FB4D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8855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A6BEA9-4304-9669-C56A-FA726AF1EB7F}"/>
              </a:ext>
            </a:extLst>
          </p:cNvPr>
          <p:cNvGrpSpPr/>
          <p:nvPr/>
        </p:nvGrpSpPr>
        <p:grpSpPr>
          <a:xfrm>
            <a:off x="0" y="0"/>
            <a:ext cx="9359900" cy="6119815"/>
            <a:chOff x="0" y="-2"/>
            <a:chExt cx="9359900" cy="6119815"/>
          </a:xfrm>
        </p:grpSpPr>
        <p:pic>
          <p:nvPicPr>
            <p:cNvPr id="3" name="Рисунок 2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93032C18-78DA-96F8-D6EA-B18AB667D8B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>
              <a:off x="0" y="0"/>
              <a:ext cx="9359900" cy="6119813"/>
            </a:xfrm>
            <a:prstGeom prst="rect">
              <a:avLst/>
            </a:prstGeom>
          </p:spPr>
        </p:pic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E1DD7B67-9B3C-5C79-6E9F-495453D68FBD}"/>
                </a:ext>
              </a:extLst>
            </p:cNvPr>
            <p:cNvSpPr/>
            <p:nvPr/>
          </p:nvSpPr>
          <p:spPr>
            <a:xfrm>
              <a:off x="0" y="-2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5" name="Рисунок 4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F341518B-C545-04BD-3C99-5570A5A85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1471" r="50000" b="42838"/>
            <a:stretch/>
          </p:blipFill>
          <p:spPr>
            <a:xfrm>
              <a:off x="1064986" y="1857860"/>
              <a:ext cx="8294914" cy="4261952"/>
            </a:xfrm>
            <a:prstGeom prst="rect">
              <a:avLst/>
            </a:prstGeom>
          </p:spPr>
        </p:pic>
        <p:pic>
          <p:nvPicPr>
            <p:cNvPr id="6" name="Рисунок 5" descr="Изображение выглядит как Шрифт, Графика, графический дизайн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6A93067C-4E22-80CE-A66C-822901CD3F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121" y="229215"/>
              <a:ext cx="1097424" cy="440941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30E0F72-9FA7-B700-3314-7DA3A13DD0D7}"/>
              </a:ext>
            </a:extLst>
          </p:cNvPr>
          <p:cNvSpPr txBox="1"/>
          <p:nvPr/>
        </p:nvSpPr>
        <p:spPr>
          <a:xfrm>
            <a:off x="1813340" y="435200"/>
            <a:ext cx="57332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Gilroy-Black" panose="00000A00000000000000" pitchFamily="2" charset="-52"/>
              </a:rPr>
              <a:t>ASTRUM IT ACADEMY</a:t>
            </a:r>
            <a:endParaRPr lang="ru-RU" sz="2400" b="1" dirty="0">
              <a:latin typeface="Gilroy-Black" panose="00000A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5D8F-5F11-BBAE-7C65-4F2DEBAEC626}"/>
              </a:ext>
            </a:extLst>
          </p:cNvPr>
          <p:cNvSpPr txBox="1"/>
          <p:nvPr/>
        </p:nvSpPr>
        <p:spPr>
          <a:xfrm>
            <a:off x="1355801" y="1071084"/>
            <a:ext cx="664829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600" spc="990" dirty="0">
                <a:solidFill>
                  <a:srgbClr val="5430CE"/>
                </a:solidFill>
                <a:latin typeface="Gilroy-Black" panose="00000500000000000000" pitchFamily="2" charset="-52"/>
              </a:rPr>
              <a:t>CERTIFICATE</a:t>
            </a:r>
            <a:endParaRPr lang="ru-RU" sz="6600" spc="990" dirty="0">
              <a:solidFill>
                <a:srgbClr val="5430CE"/>
              </a:solidFill>
              <a:latin typeface="Gilroy-Black" panose="00000500000000000000" pitchFamily="2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B86AF1-F4C8-B081-E700-929B7F4294AC}"/>
              </a:ext>
            </a:extLst>
          </p:cNvPr>
          <p:cNvSpPr txBox="1"/>
          <p:nvPr/>
        </p:nvSpPr>
        <p:spPr>
          <a:xfrm>
            <a:off x="3743634" y="2183336"/>
            <a:ext cx="18726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1000" dirty="0">
                <a:latin typeface="Gilroy" panose="00000500000000000000" pitchFamily="2" charset="-52"/>
              </a:rPr>
              <a:t>taqdim etildi</a:t>
            </a:r>
            <a:r>
              <a:rPr lang="en-US" sz="1000" dirty="0">
                <a:latin typeface="Gilroy" panose="00000500000000000000" pitchFamily="2" charset="-52"/>
              </a:rPr>
              <a:t> </a:t>
            </a:r>
            <a:r>
              <a:rPr lang="uz-Cyrl-UZ" sz="1000" dirty="0">
                <a:latin typeface="Gilroy" panose="00000500000000000000" pitchFamily="2" charset="-52"/>
              </a:rPr>
              <a:t>/ is awarded to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90" y="3059113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316165" y="3096763"/>
            <a:ext cx="47275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Gilroy" panose="00000500000000000000" pitchFamily="2" charset="-52"/>
              </a:rPr>
              <a:t>tinglovchining </a:t>
            </a:r>
            <a:r>
              <a:rPr lang="uz-Cyrl-UZ" sz="900" dirty="0">
                <a:latin typeface="Gilroy" panose="00000500000000000000" pitchFamily="2" charset="-52"/>
              </a:rPr>
              <a:t>familiya</a:t>
            </a:r>
            <a:r>
              <a:rPr lang="en-US" sz="900" dirty="0">
                <a:latin typeface="Gilroy" panose="00000500000000000000" pitchFamily="2" charset="-52"/>
              </a:rPr>
              <a:t>si</a:t>
            </a:r>
            <a:r>
              <a:rPr lang="uz-Cyrl-UZ" sz="900" dirty="0">
                <a:latin typeface="Gilroy" panose="00000500000000000000" pitchFamily="2" charset="-52"/>
              </a:rPr>
              <a:t>, ism</a:t>
            </a:r>
            <a:r>
              <a:rPr lang="en-US" sz="900" dirty="0">
                <a:latin typeface="Gilroy" panose="00000500000000000000" pitchFamily="2" charset="-52"/>
              </a:rPr>
              <a:t>i</a:t>
            </a:r>
            <a:r>
              <a:rPr lang="uz-Cyrl-UZ" sz="900" dirty="0">
                <a:latin typeface="Gilroy" panose="00000500000000000000" pitchFamily="2" charset="-52"/>
              </a:rPr>
              <a:t>, otasining ismi  /</a:t>
            </a:r>
            <a:r>
              <a:rPr lang="en-US" sz="900" dirty="0">
                <a:latin typeface="Gilroy" panose="00000500000000000000" pitchFamily="2" charset="-52"/>
              </a:rPr>
              <a:t> listener’s</a:t>
            </a:r>
            <a:r>
              <a:rPr lang="uz-Cyrl-UZ" sz="900" dirty="0">
                <a:latin typeface="Gilroy" panose="00000500000000000000" pitchFamily="2" charset="-52"/>
              </a:rPr>
              <a:t> </a:t>
            </a:r>
            <a:r>
              <a:rPr lang="en-US" sz="900" dirty="0">
                <a:latin typeface="Gilroy" panose="00000500000000000000" pitchFamily="2" charset="-52"/>
              </a:rPr>
              <a:t>last name</a:t>
            </a:r>
            <a:r>
              <a:rPr lang="uz-Cyrl-UZ" sz="900" dirty="0">
                <a:latin typeface="Gilroy" panose="00000500000000000000" pitchFamily="2" charset="-52"/>
              </a:rPr>
              <a:t>, </a:t>
            </a:r>
            <a:r>
              <a:rPr lang="en-US" sz="900" dirty="0">
                <a:latin typeface="Gilroy" panose="00000500000000000000" pitchFamily="2" charset="-52"/>
              </a:rPr>
              <a:t>first </a:t>
            </a:r>
            <a:r>
              <a:rPr lang="uz-Cyrl-UZ" sz="900" dirty="0">
                <a:latin typeface="Gilroy" panose="00000500000000000000" pitchFamily="2" charset="-52"/>
              </a:rPr>
              <a:t>name, </a:t>
            </a:r>
            <a:r>
              <a:rPr lang="en-US" sz="900" dirty="0">
                <a:latin typeface="Gilroy" panose="00000500000000000000" pitchFamily="2" charset="-52"/>
              </a:rPr>
              <a:t>sur</a:t>
            </a:r>
            <a:r>
              <a:rPr lang="uz-Cyrl-UZ" sz="900" dirty="0">
                <a:latin typeface="Gilroy" panose="00000500000000000000" pitchFamily="2" charset="-52"/>
              </a:rPr>
              <a:t>name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339156-17B4-AC02-C27E-AF11699B3BDD}"/>
              </a:ext>
            </a:extLst>
          </p:cNvPr>
          <p:cNvSpPr txBox="1"/>
          <p:nvPr/>
        </p:nvSpPr>
        <p:spPr>
          <a:xfrm>
            <a:off x="604968" y="3511201"/>
            <a:ext cx="855292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Ushbu sertifikat bitiruvchiga quyidagi yo‘nalish bo‘yicha</a:t>
            </a:r>
            <a:r>
              <a:rPr lang="en-US" sz="1000" b="1" spc="100" dirty="0">
                <a:latin typeface="Gilroy" panose="00000500000000000000" pitchFamily="2" charset="-52"/>
              </a:rPr>
              <a:t> </a:t>
            </a:r>
            <a:r>
              <a:rPr lang="uz-Cyrl-UZ" sz="1000" b="1" spc="100" dirty="0">
                <a:latin typeface="Gilroy" panose="00000500000000000000" pitchFamily="2" charset="-52"/>
              </a:rPr>
              <a:t>dasturlash o‘quv kursini</a:t>
            </a:r>
          </a:p>
          <a:p>
            <a:pPr algn="ctr"/>
            <a:r>
              <a:rPr lang="uz-Cyrl-UZ" sz="1000" b="1" spc="100" dirty="0">
                <a:latin typeface="Gilroy" panose="00000500000000000000" pitchFamily="2" charset="-52"/>
              </a:rPr>
              <a:t>muvaffaqiyatli tamomlagani uchun berildi </a:t>
            </a:r>
            <a:r>
              <a:rPr lang="en-US" sz="1000" b="1" spc="100" dirty="0">
                <a:latin typeface="Gilroy" panose="00000500000000000000" pitchFamily="2" charset="-52"/>
              </a:rPr>
              <a:t>/</a:t>
            </a:r>
            <a:endParaRPr lang="uz-Cyrl-UZ" sz="1000" b="1" spc="100" dirty="0">
              <a:latin typeface="Gilroy" panose="00000500000000000000" pitchFamily="2" charset="-52"/>
            </a:endParaRPr>
          </a:p>
          <a:p>
            <a:pPr algn="ctr"/>
            <a:endParaRPr lang="en-US" sz="1000" b="1" spc="100" dirty="0">
              <a:latin typeface="Gilroy" panose="00000500000000000000" pitchFamily="2" charset="-52"/>
            </a:endParaRPr>
          </a:p>
          <a:p>
            <a:pPr algn="ctr"/>
            <a:r>
              <a:rPr lang="en-US" sz="1000" b="1" spc="100" dirty="0">
                <a:latin typeface="Gilroy" panose="00000500000000000000" pitchFamily="2" charset="-52"/>
              </a:rPr>
              <a:t>This certificate is awarded to the recipient for successfully completing</a:t>
            </a:r>
            <a:br>
              <a:rPr lang="en-US" sz="1000" b="1" spc="100" dirty="0">
                <a:latin typeface="Gilroy" panose="00000500000000000000" pitchFamily="2" charset="-52"/>
              </a:rPr>
            </a:br>
            <a:r>
              <a:rPr lang="en-US" sz="1000" b="1" spc="100" dirty="0">
                <a:latin typeface="Gilroy" panose="00000500000000000000" pitchFamily="2" charset="-52"/>
              </a:rPr>
              <a:t>the programming course in the following track</a:t>
            </a:r>
            <a:endParaRPr lang="uz-Cyrl-UZ" sz="1000" b="1" spc="100" dirty="0">
              <a:latin typeface="Gilroy" panose="00000500000000000000" pitchFamily="2" charset="-52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99E2F2-833D-6C0D-78AD-EED19E38CA08}"/>
              </a:ext>
            </a:extLst>
          </p:cNvPr>
          <p:cNvSpPr txBox="1"/>
          <p:nvPr/>
        </p:nvSpPr>
        <p:spPr>
          <a:xfrm>
            <a:off x="403485" y="5611389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F9287F-0939-CE08-06C3-671FAAFE16C6}"/>
              </a:ext>
            </a:extLst>
          </p:cNvPr>
          <p:cNvSpPr txBox="1"/>
          <p:nvPr/>
        </p:nvSpPr>
        <p:spPr>
          <a:xfrm>
            <a:off x="7546560" y="5425200"/>
            <a:ext cx="1483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Certificate</a:t>
            </a:r>
          </a:p>
          <a:p>
            <a:r>
              <a:rPr lang="en-US" sz="800" dirty="0">
                <a:latin typeface="Gilroy" panose="00000500000000000000" pitchFamily="2" charset="-52"/>
              </a:rPr>
              <a:t>ilovasiz</a:t>
            </a:r>
            <a:r>
              <a:rPr lang="ru-RU" sz="800" dirty="0">
                <a:latin typeface="Gilroy" panose="00000500000000000000" pitchFamily="2" charset="-52"/>
              </a:rPr>
              <a:t> </a:t>
            </a:r>
            <a:r>
              <a:rPr lang="en-US" sz="800" dirty="0">
                <a:latin typeface="Gilroy" panose="00000500000000000000" pitchFamily="2" charset="-52"/>
              </a:rPr>
              <a:t>kuchga ega emas /</a:t>
            </a:r>
          </a:p>
          <a:p>
            <a:r>
              <a:rPr lang="en-US" sz="800" dirty="0">
                <a:latin typeface="Gilroy" panose="00000500000000000000" pitchFamily="2" charset="-52"/>
              </a:rPr>
              <a:t>invalid without appendix</a:t>
            </a:r>
            <a:endParaRPr lang="ru-RU" sz="800" dirty="0">
              <a:latin typeface="Gilroy" panose="00000500000000000000" pitchFamily="2" charset="-52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728F525-432F-FD7D-342E-10273B5266AE}"/>
              </a:ext>
            </a:extLst>
          </p:cNvPr>
          <p:cNvSpPr txBox="1"/>
          <p:nvPr/>
        </p:nvSpPr>
        <p:spPr>
          <a:xfrm>
            <a:off x="2154593" y="5426727"/>
            <a:ext cx="13420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r>
              <a:rPr lang="en-US" sz="1200" dirty="0">
                <a:latin typeface="Gilroy" panose="00000500000000000000" pitchFamily="2" charset="-52"/>
              </a:rPr>
              <a:t> 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355573-F739-7B8A-E245-547E57341F86}"/>
              </a:ext>
            </a:extLst>
          </p:cNvPr>
          <p:cNvSpPr txBox="1"/>
          <p:nvPr/>
        </p:nvSpPr>
        <p:spPr>
          <a:xfrm>
            <a:off x="4246708" y="5425200"/>
            <a:ext cx="9188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sana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date of issue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FD9084C-8F84-0771-2C50-F933EA301ECE}"/>
              </a:ext>
            </a:extLst>
          </p:cNvPr>
          <p:cNvSpPr txBox="1"/>
          <p:nvPr/>
        </p:nvSpPr>
        <p:spPr>
          <a:xfrm>
            <a:off x="5915631" y="5426727"/>
            <a:ext cx="1140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Gilroy" panose="00000500000000000000" pitchFamily="2" charset="-52"/>
              </a:rPr>
              <a:t>Tashkent city</a:t>
            </a:r>
            <a:br>
              <a:rPr lang="uz-Cyrl-UZ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berilgan joyi /</a:t>
            </a:r>
          </a:p>
          <a:p>
            <a:r>
              <a:rPr lang="uz-Cyrl-UZ" sz="800" dirty="0">
                <a:latin typeface="Gilroy" panose="00000500000000000000" pitchFamily="2" charset="-52"/>
              </a:rPr>
              <a:t>given place</a:t>
            </a:r>
          </a:p>
        </p:txBody>
      </p:sp>
      <p:sp>
        <p:nvSpPr>
          <p:cNvPr id="40" name="Прямоугольник: скругленные углы 39">
            <a:extLst>
              <a:ext uri="{FF2B5EF4-FFF2-40B4-BE49-F238E27FC236}">
                <a16:creationId xmlns:a16="http://schemas.microsoft.com/office/drawing/2014/main" id="{722A4FDB-684E-0C0A-DE40-577BD770F89A}"/>
              </a:ext>
            </a:extLst>
          </p:cNvPr>
          <p:cNvSpPr>
            <a:spLocks noChangeAspect="1"/>
          </p:cNvSpPr>
          <p:nvPr/>
        </p:nvSpPr>
        <p:spPr>
          <a:xfrm>
            <a:off x="403485" y="4425509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828B55-3CA1-9A26-A976-637BF4288675}"/>
              </a:ext>
            </a:extLst>
          </p:cNvPr>
          <p:cNvSpPr txBox="1"/>
          <p:nvPr/>
        </p:nvSpPr>
        <p:spPr>
          <a:xfrm>
            <a:off x="403485" y="4193492"/>
            <a:ext cx="12642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certificate.astrum.uz</a:t>
            </a:r>
            <a:endParaRPr lang="ru-RU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23DE3E-2673-8027-E58A-CE9E364097F5}"/>
              </a:ext>
            </a:extLst>
          </p:cNvPr>
          <p:cNvSpPr txBox="1"/>
          <p:nvPr/>
        </p:nvSpPr>
        <p:spPr>
          <a:xfrm>
            <a:off x="1897762" y="4372975"/>
            <a:ext cx="687337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 dirty="0">
                <a:solidFill>
                  <a:srgbClr val="5430CE"/>
                </a:solidFill>
                <a:latin typeface="Gilroy-Black"/>
              </a:rPr>
              <a:t>PYTHON DJANGO BACKEND DEVELOPER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8FF4D08-309F-2773-A09F-0B0A77FA5CC7}"/>
              </a:ext>
            </a:extLst>
          </p:cNvPr>
          <p:cNvSpPr/>
          <p:nvPr/>
        </p:nvSpPr>
        <p:spPr>
          <a:xfrm>
            <a:off x="1947638" y="4819326"/>
            <a:ext cx="6773618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CAA245-FC92-2291-A910-E22A1588D4F0}"/>
              </a:ext>
            </a:extLst>
          </p:cNvPr>
          <p:cNvSpPr txBox="1"/>
          <p:nvPr/>
        </p:nvSpPr>
        <p:spPr>
          <a:xfrm>
            <a:off x="3605277" y="4822198"/>
            <a:ext cx="255230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uz-Cyrl-UZ" sz="900" dirty="0">
                <a:latin typeface="Gilroy" panose="00000500000000000000" pitchFamily="2" charset="-52"/>
              </a:rPr>
              <a:t>tamomla</a:t>
            </a:r>
            <a:r>
              <a:rPr lang="en-US" sz="900" dirty="0">
                <a:latin typeface="Gilroy" panose="00000500000000000000" pitchFamily="2" charset="-52"/>
              </a:rPr>
              <a:t>n</a:t>
            </a:r>
            <a:r>
              <a:rPr lang="uz-Cyrl-UZ" sz="900" dirty="0">
                <a:latin typeface="Gilroy" panose="00000500000000000000" pitchFamily="2" charset="-52"/>
              </a:rPr>
              <a:t>gan yo‘nalish / graduated course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3E023E-66FA-99E0-6F4F-601705031FBE}"/>
              </a:ext>
            </a:extLst>
          </p:cNvPr>
          <p:cNvSpPr txBox="1"/>
          <p:nvPr/>
        </p:nvSpPr>
        <p:spPr>
          <a:xfrm>
            <a:off x="3518411" y="155247"/>
            <a:ext cx="23230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latin typeface="Gilroy" panose="00000500000000000000" pitchFamily="2" charset="-52"/>
              </a:rPr>
              <a:t>«</a:t>
            </a:r>
            <a:r>
              <a:rPr lang="en-US" sz="1400" dirty="0">
                <a:latin typeface="Gilroy" panose="00000500000000000000" pitchFamily="2" charset="-52"/>
              </a:rPr>
              <a:t>BILIM TECH</a:t>
            </a:r>
            <a:r>
              <a:rPr lang="ru-RU" sz="1400" dirty="0">
                <a:latin typeface="Gilroy" panose="00000500000000000000" pitchFamily="2" charset="-52"/>
              </a:rPr>
              <a:t>» </a:t>
            </a:r>
            <a:r>
              <a:rPr lang="en-US" sz="1400" dirty="0">
                <a:latin typeface="Gilroy" panose="00000500000000000000" pitchFamily="2" charset="-52"/>
              </a:rPr>
              <a:t>MCHJ / LLC</a:t>
            </a:r>
          </a:p>
        </p:txBody>
      </p:sp>
    </p:spTree>
    <p:extLst>
      <p:ext uri="{BB962C8B-B14F-4D97-AF65-F5344CB8AC3E}">
        <p14:creationId xmlns:p14="http://schemas.microsoft.com/office/powerpoint/2010/main" val="439639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EB89B89-93F9-7ECF-D5BE-5FFC310EC138}"/>
              </a:ext>
            </a:extLst>
          </p:cNvPr>
          <p:cNvGrpSpPr/>
          <p:nvPr/>
        </p:nvGrpSpPr>
        <p:grpSpPr>
          <a:xfrm>
            <a:off x="-8" y="-8749"/>
            <a:ext cx="9359900" cy="6119814"/>
            <a:chOff x="9359900" y="0"/>
            <a:chExt cx="9359900" cy="6119814"/>
          </a:xfrm>
        </p:grpSpPr>
        <p:pic>
          <p:nvPicPr>
            <p:cNvPr id="17" name="Рисунок 16" descr="Изображение выглядит как карта, текст&#10;&#10;Автоматически созданное описание">
              <a:extLst>
                <a:ext uri="{FF2B5EF4-FFF2-40B4-BE49-F238E27FC236}">
                  <a16:creationId xmlns:a16="http://schemas.microsoft.com/office/drawing/2014/main" id="{2CEC1753-0B61-1AF8-5CFC-C3573529203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t="22637" r="-1" b="-1"/>
            <a:stretch/>
          </p:blipFill>
          <p:spPr>
            <a:xfrm flipH="1">
              <a:off x="9359900" y="0"/>
              <a:ext cx="9359900" cy="6119813"/>
            </a:xfrm>
            <a:prstGeom prst="rect">
              <a:avLst/>
            </a:prstGeom>
          </p:spPr>
        </p:pic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BFA40D93-759B-F061-BA3B-DD5132B374D8}"/>
                </a:ext>
              </a:extLst>
            </p:cNvPr>
            <p:cNvSpPr/>
            <p:nvPr/>
          </p:nvSpPr>
          <p:spPr>
            <a:xfrm>
              <a:off x="9359900" y="1"/>
              <a:ext cx="9359900" cy="6119813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pic>
          <p:nvPicPr>
            <p:cNvPr id="19" name="Рисунок 18" descr="Изображение выглядит как черный, темнота&#10;&#10;Автоматически созданное описание">
              <a:extLst>
                <a:ext uri="{FF2B5EF4-FFF2-40B4-BE49-F238E27FC236}">
                  <a16:creationId xmlns:a16="http://schemas.microsoft.com/office/drawing/2014/main" id="{7D86B770-8A9C-0E68-436F-2B7162C951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000" t="31471" b="42838"/>
            <a:stretch/>
          </p:blipFill>
          <p:spPr>
            <a:xfrm>
              <a:off x="9359900" y="1857861"/>
              <a:ext cx="8294914" cy="4261952"/>
            </a:xfrm>
            <a:prstGeom prst="rect">
              <a:avLst/>
            </a:prstGeom>
          </p:spPr>
        </p:pic>
      </p:grp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89E79DE-85AF-DEAD-4958-9F44A1D4E9BB}"/>
              </a:ext>
            </a:extLst>
          </p:cNvPr>
          <p:cNvSpPr/>
          <p:nvPr/>
        </p:nvSpPr>
        <p:spPr>
          <a:xfrm>
            <a:off x="403485" y="1408518"/>
            <a:ext cx="8552920" cy="3563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782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1396DE1-5A27-7858-71B4-DCBDD2E51C75}"/>
              </a:ext>
            </a:extLst>
          </p:cNvPr>
          <p:cNvSpPr txBox="1"/>
          <p:nvPr/>
        </p:nvSpPr>
        <p:spPr>
          <a:xfrm>
            <a:off x="2269678" y="1446168"/>
            <a:ext cx="482055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latin typeface="Gilroy" panose="00000500000000000000" pitchFamily="2" charset="-52"/>
              </a:rPr>
              <a:t>bitiruvchining </a:t>
            </a:r>
            <a:r>
              <a:rPr lang="uz-Cyrl-UZ" sz="900" dirty="0">
                <a:latin typeface="Gilroy" panose="00000500000000000000" pitchFamily="2" charset="-52"/>
              </a:rPr>
              <a:t>familiya</a:t>
            </a:r>
            <a:r>
              <a:rPr lang="en-US" sz="900" dirty="0">
                <a:latin typeface="Gilroy" panose="00000500000000000000" pitchFamily="2" charset="-52"/>
              </a:rPr>
              <a:t>si</a:t>
            </a:r>
            <a:r>
              <a:rPr lang="uz-Cyrl-UZ" sz="900" dirty="0">
                <a:latin typeface="Gilroy" panose="00000500000000000000" pitchFamily="2" charset="-52"/>
              </a:rPr>
              <a:t>, ism</a:t>
            </a:r>
            <a:r>
              <a:rPr lang="en-US" sz="900" dirty="0">
                <a:latin typeface="Gilroy" panose="00000500000000000000" pitchFamily="2" charset="-52"/>
              </a:rPr>
              <a:t>i</a:t>
            </a:r>
            <a:r>
              <a:rPr lang="uz-Cyrl-UZ" sz="900" dirty="0">
                <a:latin typeface="Gilroy" panose="00000500000000000000" pitchFamily="2" charset="-52"/>
              </a:rPr>
              <a:t>, otasining ismi  /</a:t>
            </a:r>
            <a:r>
              <a:rPr lang="en-US" sz="900" dirty="0">
                <a:latin typeface="Gilroy" panose="00000500000000000000" pitchFamily="2" charset="-52"/>
              </a:rPr>
              <a:t> graduate’s</a:t>
            </a:r>
            <a:r>
              <a:rPr lang="uz-Cyrl-UZ" sz="900" dirty="0">
                <a:latin typeface="Gilroy" panose="00000500000000000000" pitchFamily="2" charset="-52"/>
              </a:rPr>
              <a:t> </a:t>
            </a:r>
            <a:r>
              <a:rPr lang="en-US" sz="900" dirty="0">
                <a:latin typeface="Gilroy" panose="00000500000000000000" pitchFamily="2" charset="-52"/>
              </a:rPr>
              <a:t>last name</a:t>
            </a:r>
            <a:r>
              <a:rPr lang="uz-Cyrl-UZ" sz="900" dirty="0">
                <a:latin typeface="Gilroy" panose="00000500000000000000" pitchFamily="2" charset="-52"/>
              </a:rPr>
              <a:t>, </a:t>
            </a:r>
            <a:r>
              <a:rPr lang="en-US" sz="900" dirty="0">
                <a:latin typeface="Gilroy" panose="00000500000000000000" pitchFamily="2" charset="-52"/>
              </a:rPr>
              <a:t>first </a:t>
            </a:r>
            <a:r>
              <a:rPr lang="uz-Cyrl-UZ" sz="900" dirty="0">
                <a:latin typeface="Gilroy" panose="00000500000000000000" pitchFamily="2" charset="-52"/>
              </a:rPr>
              <a:t>name, </a:t>
            </a:r>
            <a:r>
              <a:rPr lang="en-US" sz="900" dirty="0">
                <a:latin typeface="Gilroy" panose="00000500000000000000" pitchFamily="2" charset="-52"/>
              </a:rPr>
              <a:t>sur</a:t>
            </a:r>
            <a:r>
              <a:rPr lang="uz-Cyrl-UZ" sz="900" dirty="0">
                <a:latin typeface="Gilroy" panose="00000500000000000000" pitchFamily="2" charset="-52"/>
              </a:rPr>
              <a:t>name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68235D-D17D-0498-B9C1-B0D0546C6116}"/>
              </a:ext>
            </a:extLst>
          </p:cNvPr>
          <p:cNvSpPr txBox="1"/>
          <p:nvPr/>
        </p:nvSpPr>
        <p:spPr>
          <a:xfrm>
            <a:off x="400005" y="303544"/>
            <a:ext cx="1079783" cy="523220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/>
          <a:p>
            <a:r>
              <a:rPr lang="uz-Cyrl-UZ" sz="1200" dirty="0">
                <a:latin typeface="Gilroy" panose="00000500000000000000" pitchFamily="2" charset="-52"/>
              </a:rPr>
              <a:t>№</a:t>
            </a:r>
            <a:br>
              <a:rPr lang="en-US" sz="12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ro‘yxatga olish raqami /</a:t>
            </a:r>
            <a:br>
              <a:rPr lang="uz-Cyrl-UZ" sz="800" dirty="0">
                <a:latin typeface="Gilroy" panose="00000500000000000000" pitchFamily="2" charset="-52"/>
              </a:rPr>
            </a:br>
            <a:r>
              <a:rPr lang="uz-Cyrl-UZ" sz="800" dirty="0">
                <a:latin typeface="Gilroy" panose="00000500000000000000" pitchFamily="2" charset="-52"/>
              </a:rPr>
              <a:t>registration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AE6472-1977-FE23-5ACD-A4FE297F074A}"/>
              </a:ext>
            </a:extLst>
          </p:cNvPr>
          <p:cNvSpPr txBox="1"/>
          <p:nvPr/>
        </p:nvSpPr>
        <p:spPr>
          <a:xfrm>
            <a:off x="3629822" y="301642"/>
            <a:ext cx="21002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Gilroy" panose="00000500000000000000" pitchFamily="2" charset="-52"/>
              </a:rPr>
              <a:t>SERTIFIKAT ILOVASI /</a:t>
            </a:r>
          </a:p>
          <a:p>
            <a:pPr algn="ctr"/>
            <a:r>
              <a:rPr lang="en-US" sz="1400" b="1" dirty="0">
                <a:latin typeface="Gilroy" panose="00000500000000000000" pitchFamily="2" charset="-52"/>
              </a:rPr>
              <a:t>CERTIFICATE APPENDIX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26C754-1166-BC74-8309-A8DACDDA8BCF}"/>
              </a:ext>
            </a:extLst>
          </p:cNvPr>
          <p:cNvSpPr txBox="1"/>
          <p:nvPr/>
        </p:nvSpPr>
        <p:spPr>
          <a:xfrm>
            <a:off x="532485" y="1768813"/>
            <a:ext cx="8294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«</a:t>
            </a:r>
            <a:r>
              <a:rPr lang="en-US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PYTHON DJANGO BACKEND DEVELOPER</a:t>
            </a:r>
            <a:r>
              <a:rPr lang="ru-RU" sz="3200" b="1" dirty="0">
                <a:solidFill>
                  <a:srgbClr val="5430CE"/>
                </a:solidFill>
                <a:latin typeface="Gilroy-Black" panose="00000A00000000000000" pitchFamily="2" charset="-52"/>
              </a:rPr>
              <a:t>»</a:t>
            </a:r>
            <a:endParaRPr lang="ru-RU" sz="2800" b="1" dirty="0">
              <a:solidFill>
                <a:srgbClr val="5430CE"/>
              </a:solidFill>
              <a:latin typeface="Gilroy-Black" panose="00000A00000000000000" pitchFamily="2" charset="-5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DF8269-DC11-D0A0-368F-8FBA19864A30}"/>
              </a:ext>
            </a:extLst>
          </p:cNvPr>
          <p:cNvSpPr txBox="1"/>
          <p:nvPr/>
        </p:nvSpPr>
        <p:spPr>
          <a:xfrm>
            <a:off x="403484" y="2353589"/>
            <a:ext cx="8552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B</a:t>
            </a:r>
            <a:r>
              <a:rPr lang="uz-Cyrl-UZ" sz="1200" b="1" spc="100" dirty="0">
                <a:latin typeface="Gilroy" panose="00000500000000000000" pitchFamily="2" charset="-52"/>
              </a:rPr>
              <a:t>itiruvchi</a:t>
            </a:r>
            <a:r>
              <a:rPr lang="en-US" sz="1200" b="1" spc="100" dirty="0">
                <a:latin typeface="Gilroy" panose="00000500000000000000" pitchFamily="2" charset="-52"/>
              </a:rPr>
              <a:t> ushbu o‘quv kursida 12 oy </a:t>
            </a:r>
            <a:r>
              <a:rPr lang="en-US" sz="1200" b="1" spc="100" dirty="0" err="1">
                <a:latin typeface="Gilroy" panose="00000500000000000000" pitchFamily="2" charset="-52"/>
              </a:rPr>
              <a:t>davomida</a:t>
            </a:r>
            <a:r>
              <a:rPr lang="en-US" sz="1200" b="1" spc="100" dirty="0">
                <a:latin typeface="Gilroy" panose="00000500000000000000" pitchFamily="2" charset="-52"/>
              </a:rPr>
              <a:t> 5 ta quyidagi bosqichlarni tamomladi 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/</a:t>
            </a:r>
          </a:p>
          <a:p>
            <a:pPr algn="ctr"/>
            <a:r>
              <a:rPr lang="en-US" sz="1200" b="1" spc="100" dirty="0">
                <a:latin typeface="Gilroy" panose="00000500000000000000" pitchFamily="2" charset="-52"/>
              </a:rPr>
              <a:t>The graduate completed the </a:t>
            </a:r>
            <a:r>
              <a:rPr lang="en-US" sz="1200" b="1" spc="100">
                <a:latin typeface="Gilroy" panose="00000500000000000000" pitchFamily="2" charset="-52"/>
              </a:rPr>
              <a:t>following 5 </a:t>
            </a:r>
            <a:r>
              <a:rPr lang="en-US" sz="1200" b="1" spc="100" dirty="0">
                <a:latin typeface="Gilroy" panose="00000500000000000000" pitchFamily="2" charset="-52"/>
              </a:rPr>
              <a:t>steps during the 12 months on this learning course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977F0-4017-B7CA-A429-FB4BF9C3F208}"/>
              </a:ext>
            </a:extLst>
          </p:cNvPr>
          <p:cNvSpPr txBox="1"/>
          <p:nvPr/>
        </p:nvSpPr>
        <p:spPr>
          <a:xfrm>
            <a:off x="7770525" y="5650598"/>
            <a:ext cx="1185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uz-Cyrl-UZ" sz="800" b="0" i="0" u="none" strike="noStrike" kern="1200" cap="none" spc="2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tekshirish QR kodi / </a:t>
            </a:r>
            <a:r>
              <a:rPr kumimoji="0" lang="uz-Cyrl-UZ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" panose="00000500000000000000" pitchFamily="2" charset="-52"/>
                <a:ea typeface="+mn-ea"/>
                <a:cs typeface="+mn-cs"/>
              </a:rPr>
              <a:t>verification QR code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76C5A2E-5626-F198-9C58-5B01B1014A9C}"/>
              </a:ext>
            </a:extLst>
          </p:cNvPr>
          <p:cNvSpPr>
            <a:spLocks noChangeAspect="1"/>
          </p:cNvSpPr>
          <p:nvPr/>
        </p:nvSpPr>
        <p:spPr>
          <a:xfrm>
            <a:off x="7770525" y="4464718"/>
            <a:ext cx="1185885" cy="1185885"/>
          </a:xfrm>
          <a:prstGeom prst="roundRect">
            <a:avLst>
              <a:gd name="adj" fmla="val 13518"/>
            </a:avLst>
          </a:prstGeom>
          <a:solidFill>
            <a:schemeClr val="bg1"/>
          </a:solidFill>
          <a:ln w="190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1" i="0" u="none" strike="noStrike" kern="1200" cap="none" spc="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" panose="00000500000000000000" pitchFamily="2" charset="-52"/>
              <a:ea typeface="+mn-ea"/>
              <a:cs typeface="+mn-cs"/>
            </a:endParaRPr>
          </a:p>
        </p:txBody>
      </p:sp>
      <p:pic>
        <p:nvPicPr>
          <p:cNvPr id="24" name="Рисунок 23" descr="Изображение выглядит как Шрифт, Графика, графический дизайн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3222A39-15A9-40DF-B527-4A128C6AE2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980" y="267520"/>
            <a:ext cx="1097424" cy="440941"/>
          </a:xfrm>
          <a:prstGeom prst="rect">
            <a:avLst/>
          </a:prstGeom>
        </p:spPr>
      </p:pic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D1C3979E-381A-B7D5-67C7-83F7E916B2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64851"/>
              </p:ext>
            </p:extLst>
          </p:nvPr>
        </p:nvGraphicFramePr>
        <p:xfrm>
          <a:off x="400004" y="3413645"/>
          <a:ext cx="324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30109357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203549539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5430CE"/>
                          </a:solidFill>
                          <a:latin typeface="Gilroy Black" panose="00000A00000000000000" pitchFamily="2" charset="-52"/>
                        </a:rPr>
                        <a:t>I modul</a:t>
                      </a:r>
                    </a:p>
                    <a:p>
                      <a:pPr algn="l"/>
                      <a:r>
                        <a:rPr lang="en-US" sz="1000" b="1" dirty="0">
                          <a:latin typeface="Gilroy" panose="00000500000000000000" pitchFamily="2" charset="-52"/>
                        </a:rPr>
                        <a:t>Python &amp; SQL/    </a:t>
                      </a:r>
                      <a:br>
                        <a:rPr lang="en-US" sz="1000" b="1" dirty="0">
                          <a:latin typeface="Gilroy" panose="00000500000000000000" pitchFamily="2" charset="-52"/>
                        </a:rPr>
                      </a:br>
                      <a:r>
                        <a:rPr lang="en-US" sz="1000" b="1" dirty="0">
                          <a:latin typeface="Gilroy" panose="00000500000000000000" pitchFamily="2" charset="-52"/>
                        </a:rPr>
                        <a:t>(24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       </a:t>
                      </a:r>
                    </a:p>
                    <a:p>
                      <a:pPr algn="l"/>
                      <a:r>
                        <a:rPr lang="en-US" sz="1400" b="1">
                          <a:latin typeface="Gilroy" panose="00000500000000000000" pitchFamily="2" charset="-52"/>
                        </a:rPr>
                        <a:t>        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0439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II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Django &amp; MVT/</a:t>
                      </a:r>
                      <a:b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</a:b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(24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3303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III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DRF &amp; PostgreSQL/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(16 ta dars/lessons)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764384"/>
                  </a:ext>
                </a:extLst>
              </a:tr>
            </a:tbl>
          </a:graphicData>
        </a:graphic>
      </p:graphicFrame>
      <p:graphicFrame>
        <p:nvGraphicFramePr>
          <p:cNvPr id="10" name="Таблица 4">
            <a:extLst>
              <a:ext uri="{FF2B5EF4-FFF2-40B4-BE49-F238E27FC236}">
                <a16:creationId xmlns:a16="http://schemas.microsoft.com/office/drawing/2014/main" id="{9E71FECC-1C87-075C-8260-A8C2D773E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168789"/>
              </p:ext>
            </p:extLst>
          </p:nvPr>
        </p:nvGraphicFramePr>
        <p:xfrm>
          <a:off x="4034515" y="3413645"/>
          <a:ext cx="3240000" cy="25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64000">
                  <a:extLst>
                    <a:ext uri="{9D8B030D-6E8A-4147-A177-3AD203B41FA5}">
                      <a16:colId xmlns:a16="http://schemas.microsoft.com/office/drawing/2014/main" val="3301093574"/>
                    </a:ext>
                  </a:extLst>
                </a:gridCol>
                <a:gridCol w="1476000">
                  <a:extLst>
                    <a:ext uri="{9D8B030D-6E8A-4147-A177-3AD203B41FA5}">
                      <a16:colId xmlns:a16="http://schemas.microsoft.com/office/drawing/2014/main" val="4203549539"/>
                    </a:ext>
                  </a:extLst>
                </a:gridCol>
              </a:tblGrid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IV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Integrations &amp;</a:t>
                      </a:r>
                      <a:r>
                        <a:rPr kumimoji="0" lang="ru-RU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DevOps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(8 ta </a:t>
                      </a:r>
                      <a:r>
                        <a:rPr kumimoji="0" 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dars</a:t>
                      </a: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/lessons)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0604390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V modul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ilroy" panose="00000500000000000000" pitchFamily="2" charset="-52"/>
                          <a:ea typeface="+mn-ea"/>
                          <a:cs typeface="+mn-cs"/>
                        </a:rPr>
                        <a:t>Amaliyot</a:t>
                      </a:r>
                      <a:endParaRPr kumimoji="0" lang="en-US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5430CE"/>
                        </a:solidFill>
                        <a:effectLst/>
                        <a:uLnTx/>
                        <a:uFillTx/>
                        <a:latin typeface="Gilroy Black" panose="00000A00000000000000" pitchFamily="2" charset="-52"/>
                        <a:ea typeface="+mn-ea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1133035"/>
                  </a:ext>
                </a:extLst>
              </a:tr>
              <a:tr h="840000">
                <a:tc>
                  <a:txBody>
                    <a:bodyPr/>
                    <a:lstStyle/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uz-Cyrl-UZ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Natija</a:t>
                      </a:r>
                    </a:p>
                    <a:p>
                      <a:pPr marL="0" marR="0" lvl="0" indent="0" algn="l" defTabSz="816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430CE"/>
                          </a:solidFill>
                          <a:effectLst/>
                          <a:uLnTx/>
                          <a:uFillTx/>
                          <a:latin typeface="Gilroy Black" panose="00000A00000000000000" pitchFamily="2" charset="-52"/>
                          <a:ea typeface="+mn-ea"/>
                          <a:cs typeface="+mn-cs"/>
                        </a:rPr>
                        <a:t>The result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Muvaffaqiyatli/</a:t>
                      </a:r>
                    </a:p>
                    <a:p>
                      <a:pPr algn="l"/>
                      <a:r>
                        <a:rPr lang="en-US" sz="1400" b="1" dirty="0">
                          <a:latin typeface="Gilroy" panose="00000500000000000000" pitchFamily="2" charset="-52"/>
                        </a:rPr>
                        <a:t>Successful</a:t>
                      </a:r>
                      <a:endParaRPr lang="ru-RU" sz="1400" b="1" dirty="0">
                        <a:latin typeface="Gilroy" panose="00000500000000000000" pitchFamily="2" charset="-52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27643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40805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744</TotalTime>
  <Words>279</Words>
  <Application>Microsoft Office PowerPoint</Application>
  <PresentationFormat>Произвольный</PresentationFormat>
  <Paragraphs>49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Gilroy</vt:lpstr>
      <vt:lpstr>Gilroy Black</vt:lpstr>
      <vt:lpstr>Gilroy-Black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Odil Azizov</dc:creator>
  <cp:lastModifiedBy>MuhammadRizo Muxtorov</cp:lastModifiedBy>
  <cp:revision>129</cp:revision>
  <cp:lastPrinted>2023-05-11T13:15:46Z</cp:lastPrinted>
  <dcterms:created xsi:type="dcterms:W3CDTF">2023-05-02T10:05:08Z</dcterms:created>
  <dcterms:modified xsi:type="dcterms:W3CDTF">2025-01-17T08:57:36Z</dcterms:modified>
</cp:coreProperties>
</file>